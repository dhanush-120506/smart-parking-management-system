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26679" y="640080"/>
            <a:ext cx="41148" cy="5303520"/>
          </a:xfrm>
          <a:prstGeom prst="rect">
            <a:avLst/>
          </a:prstGeom>
          <a:solidFill>
            <a:srgbClr val="2B4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76488" y="640080"/>
            <a:ext cx="41148" cy="5303520"/>
          </a:xfrm>
          <a:prstGeom prst="rect">
            <a:avLst/>
          </a:prstGeom>
          <a:solidFill>
            <a:srgbClr val="2B4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26296" y="640080"/>
            <a:ext cx="41148" cy="5303520"/>
          </a:xfrm>
          <a:prstGeom prst="rect">
            <a:avLst/>
          </a:prstGeom>
          <a:solidFill>
            <a:srgbClr val="2B4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76104" y="640080"/>
            <a:ext cx="41148" cy="5303520"/>
          </a:xfrm>
          <a:prstGeom prst="rect">
            <a:avLst/>
          </a:prstGeom>
          <a:solidFill>
            <a:srgbClr val="2B4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725911" y="640080"/>
            <a:ext cx="41148" cy="5303520"/>
          </a:xfrm>
          <a:prstGeom prst="rect">
            <a:avLst/>
          </a:prstGeom>
          <a:solidFill>
            <a:srgbClr val="2B4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66760" y="2011680"/>
            <a:ext cx="2148840" cy="2423160"/>
          </a:xfrm>
          <a:prstGeom prst="roundRect">
            <a:avLst/>
          </a:prstGeom>
          <a:solidFill>
            <a:srgbClr val="2563EB"/>
          </a:solidFill>
          <a:ln w="254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0" y="2514600"/>
            <a:ext cx="1874519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500"/>
              </a:spcAft>
              <a:defRPr sz="3400" b="1">
                <a:solidFill>
                  <a:srgbClr val="F8FAFC"/>
                </a:solidFill>
                <a:latin typeface="Aptos"/>
              </a:defRPr>
            </a:pPr>
            <a:r>
              <a:t>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3127248"/>
            <a:ext cx="1874519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F8FAFC"/>
                </a:solidFill>
                <a:latin typeface="Aptos"/>
              </a:defRPr>
            </a:pPr>
            <a:r>
              <a:t>PARKING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49640" y="1828800"/>
            <a:ext cx="310896" cy="502920"/>
          </a:xfrm>
          <a:prstGeom prst="roundRect">
            <a:avLst/>
          </a:prstGeom>
          <a:solidFill>
            <a:srgbClr val="07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549640" y="4160520"/>
            <a:ext cx="310896" cy="502920"/>
          </a:xfrm>
          <a:prstGeom prst="roundRect">
            <a:avLst/>
          </a:prstGeom>
          <a:solidFill>
            <a:srgbClr val="07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012680" y="1828800"/>
            <a:ext cx="310896" cy="502920"/>
          </a:xfrm>
          <a:prstGeom prst="roundRect">
            <a:avLst/>
          </a:prstGeom>
          <a:solidFill>
            <a:srgbClr val="07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012680" y="4160520"/>
            <a:ext cx="310896" cy="502920"/>
          </a:xfrm>
          <a:prstGeom prst="roundRect">
            <a:avLst/>
          </a:prstGeom>
          <a:solidFill>
            <a:srgbClr val="07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777240"/>
            <a:ext cx="1417320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786384"/>
            <a:ext cx="1417320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F8FAFC"/>
                </a:solidFill>
                <a:latin typeface="Aptos"/>
              </a:defRPr>
            </a:pPr>
            <a:r>
              <a:t>PROJECT PRESENTATION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1600200"/>
            <a:ext cx="6629400" cy="1508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3100" b="1">
                <a:solidFill>
                  <a:srgbClr val="F8FAFC"/>
                </a:solidFill>
                <a:latin typeface="Aptos"/>
              </a:defRPr>
            </a:pPr>
            <a:r>
              <a:t>SMART PARKING</a:t>
            </a:r>
          </a:p>
          <a:p>
            <a:pPr algn="l">
              <a:spcAft>
                <a:spcPts val="500"/>
              </a:spcAft>
              <a:defRPr sz="3100" b="1">
                <a:solidFill>
                  <a:srgbClr val="F8FAFC"/>
                </a:solidFill>
                <a:latin typeface="Aptos"/>
              </a:defRPr>
            </a:pPr>
            <a:r>
              <a:t>MANAGEMENT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3364992"/>
            <a:ext cx="6217920" cy="7315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800" b="0">
                <a:solidFill>
                  <a:srgbClr val="B1BFD2"/>
                </a:solidFill>
                <a:latin typeface="Aptos"/>
              </a:defRPr>
            </a:pPr>
            <a:r>
              <a:t>A web application to manage parking slots, vehicle entry and exit, fees, and parking history.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983480"/>
            <a:ext cx="585216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22D3EE"/>
                </a:solidFill>
                <a:latin typeface="Aptos"/>
              </a:defRPr>
            </a:pPr>
            <a:r>
              <a:t>Course: CS23531 – Web Programming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" y="5989320"/>
            <a:ext cx="5669280" cy="29337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B1BFD2"/>
                </a:solidFill>
                <a:latin typeface="Aptos"/>
              </a:defRPr>
            </a:pPr>
            <a:r>
              <a:t>Presented by: </a:t>
            </a:r>
            <a:r>
              <a:rPr lang="en-IN"/>
              <a:t>DHANUSH.S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881360" cy="5303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F8FAFC"/>
                </a:solidFill>
                <a:latin typeface="Aptos"/>
              </a:defRPr>
            </a:pPr>
            <a:r>
              <a:t>Problem Statement &amp; Proposed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713232" cy="502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33271"/>
            <a:ext cx="1078992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B1BFD2"/>
                </a:solidFill>
                <a:latin typeface="Aptos"/>
              </a:defRPr>
            </a:pPr>
            <a:r>
              <a:t>Why a simple digital parking workflow is useful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B1BFD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5074920" cy="3520440"/>
          </a:xfrm>
          <a:prstGeom prst="roundRect">
            <a:avLst/>
          </a:prstGeom>
          <a:solidFill>
            <a:srgbClr val="172A44"/>
          </a:solidFill>
          <a:ln>
            <a:solidFill>
              <a:srgbClr val="3348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01368"/>
            <a:ext cx="54864" cy="330098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37944"/>
            <a:ext cx="4727448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F8FAFC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76856"/>
            <a:ext cx="4727448" cy="28437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B1BFD2"/>
                </a:solidFill>
                <a:latin typeface="Aptos"/>
              </a:defRPr>
            </a:pPr>
            <a:r>
              <a:t>• Finding an available slot can take time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B1BFD2"/>
                </a:solidFill>
                <a:latin typeface="Aptos"/>
              </a:defRPr>
            </a:pPr>
          </a:p>
          <a:p>
            <a:pPr algn="l">
              <a:spcAft>
                <a:spcPts val="500"/>
              </a:spcAft>
              <a:defRPr sz="1600" b="0">
                <a:solidFill>
                  <a:srgbClr val="B1BFD2"/>
                </a:solidFill>
                <a:latin typeface="Aptos"/>
              </a:defRPr>
            </a:pPr>
            <a:r>
              <a:t>• Entry and exit details need consistent recording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B1BFD2"/>
                </a:solidFill>
                <a:latin typeface="Aptos"/>
              </a:defRPr>
            </a:pPr>
          </a:p>
          <a:p>
            <a:pPr algn="l">
              <a:spcAft>
                <a:spcPts val="500"/>
              </a:spcAft>
              <a:defRPr sz="1600" b="0">
                <a:solidFill>
                  <a:srgbClr val="B1BFD2"/>
                </a:solidFill>
                <a:latin typeface="Aptos"/>
              </a:defRPr>
            </a:pPr>
            <a:r>
              <a:t>• Fee calculation can be inconsistent when done manually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B1BFD2"/>
                </a:solidFill>
                <a:latin typeface="Aptos"/>
              </a:defRPr>
            </a:pPr>
          </a:p>
          <a:p>
            <a:pPr algn="l">
              <a:spcAft>
                <a:spcPts val="500"/>
              </a:spcAft>
              <a:defRPr sz="1600" b="0">
                <a:solidFill>
                  <a:srgbClr val="B1BFD2"/>
                </a:solidFill>
                <a:latin typeface="Aptos"/>
              </a:defRPr>
            </a:pPr>
            <a:r>
              <a:t>• Past parking transactions can be difficult to review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691640"/>
            <a:ext cx="5074920" cy="3520440"/>
          </a:xfrm>
          <a:prstGeom prst="roundRect">
            <a:avLst/>
          </a:prstGeom>
          <a:solidFill>
            <a:srgbClr val="172A44"/>
          </a:solidFill>
          <a:ln>
            <a:solidFill>
              <a:srgbClr val="3348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801368"/>
            <a:ext cx="54864" cy="330098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837944"/>
            <a:ext cx="4727448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F8FAFC"/>
                </a:solidFill>
                <a:latin typeface="Aptos"/>
              </a:defRPr>
            </a:pPr>
            <a:r>
              <a:t>THE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276856"/>
            <a:ext cx="4727448" cy="28437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B1BFD2"/>
                </a:solidFill>
                <a:latin typeface="Aptos"/>
              </a:defRPr>
            </a:pPr>
            <a:r>
              <a:t>• Show total, free, and occupied slot counts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B1BFD2"/>
                </a:solidFill>
                <a:latin typeface="Aptos"/>
              </a:defRPr>
            </a:pPr>
          </a:p>
          <a:p>
            <a:pPr algn="l">
              <a:spcAft>
                <a:spcPts val="500"/>
              </a:spcAft>
              <a:defRPr sz="1600" b="0">
                <a:solidFill>
                  <a:srgbClr val="B1BFD2"/>
                </a:solidFill>
                <a:latin typeface="Aptos"/>
              </a:defRPr>
            </a:pPr>
            <a:r>
              <a:t>• Park a vehicle in a selected or auto-assigned slot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B1BFD2"/>
                </a:solidFill>
                <a:latin typeface="Aptos"/>
              </a:defRPr>
            </a:pPr>
          </a:p>
          <a:p>
            <a:pPr algn="l">
              <a:spcAft>
                <a:spcPts val="500"/>
              </a:spcAft>
              <a:defRPr sz="1600" b="0">
                <a:solidFill>
                  <a:srgbClr val="B1BFD2"/>
                </a:solidFill>
                <a:latin typeface="Aptos"/>
              </a:defRPr>
            </a:pPr>
            <a:r>
              <a:t>• Calculate the fee when a vehicle exits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B1BFD2"/>
                </a:solidFill>
                <a:latin typeface="Aptos"/>
              </a:defRPr>
            </a:pPr>
          </a:p>
          <a:p>
            <a:pPr algn="l">
              <a:spcAft>
                <a:spcPts val="500"/>
              </a:spcAft>
              <a:defRPr sz="1600" b="0">
                <a:solidFill>
                  <a:srgbClr val="B1BFD2"/>
                </a:solidFill>
                <a:latin typeface="Aptos"/>
              </a:defRPr>
            </a:pPr>
            <a:r>
              <a:t>• Keep a parking history with slot, vehicle, times, fee, and status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806440" y="3246120"/>
            <a:ext cx="502920" cy="0"/>
          </a:xfrm>
          <a:prstGeom prst="line">
            <a:avLst/>
          </a:prstGeom>
          <a:ln w="381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14400" y="5715000"/>
            <a:ext cx="1024128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22D3EE"/>
                </a:solidFill>
                <a:latin typeface="Aptos"/>
              </a:defRPr>
            </a:pPr>
            <a:r>
              <a:t>Project goal: make everyday parking operations clearer, faster, and easier to track.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881360" cy="5303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F8FAFC"/>
                </a:solidFill>
                <a:latin typeface="Aptos"/>
              </a:defRPr>
            </a:pPr>
            <a:r>
              <a:t>Objectives &amp; Target Users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713232" cy="502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33271"/>
            <a:ext cx="1078992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B1BFD2"/>
                </a:solidFill>
                <a:latin typeface="Aptos"/>
              </a:defRPr>
            </a:pPr>
            <a:r>
              <a:t>Core purpose of the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B1BFD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5257800" cy="1353312"/>
          </a:xfrm>
          <a:prstGeom prst="roundRect">
            <a:avLst/>
          </a:prstGeom>
          <a:solidFill>
            <a:srgbClr val="172A44"/>
          </a:solidFill>
          <a:ln>
            <a:solidFill>
              <a:srgbClr val="3348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47088"/>
            <a:ext cx="54864" cy="113385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83664"/>
            <a:ext cx="4910328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F8FAFC"/>
                </a:solidFill>
                <a:latin typeface="Aptos"/>
              </a:defRPr>
            </a:pPr>
            <a:r>
              <a:t>01  Manage slots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22576"/>
            <a:ext cx="4910328" cy="6766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B1BFD2"/>
                </a:solidFill>
                <a:latin typeface="Aptos"/>
              </a:defRPr>
            </a:pPr>
            <a:r>
              <a:t>View total, free, and occupied parking slots.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37360"/>
            <a:ext cx="5257800" cy="1353312"/>
          </a:xfrm>
          <a:prstGeom prst="roundRect">
            <a:avLst/>
          </a:prstGeom>
          <a:solidFill>
            <a:srgbClr val="172A44"/>
          </a:solidFill>
          <a:ln>
            <a:solidFill>
              <a:srgbClr val="3348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847088"/>
            <a:ext cx="54864" cy="113385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883664"/>
            <a:ext cx="4910328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F8FAFC"/>
                </a:solidFill>
                <a:latin typeface="Aptos"/>
              </a:defRPr>
            </a:pPr>
            <a:r>
              <a:t>02  Record parking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322576"/>
            <a:ext cx="4910328" cy="6766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B1BFD2"/>
                </a:solidFill>
                <a:latin typeface="Aptos"/>
              </a:defRPr>
            </a:pPr>
            <a:r>
              <a:t>Capture vehicle number and assign a slot.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29000"/>
            <a:ext cx="5257800" cy="1353312"/>
          </a:xfrm>
          <a:prstGeom prst="roundRect">
            <a:avLst/>
          </a:prstGeom>
          <a:solidFill>
            <a:srgbClr val="172A44"/>
          </a:solidFill>
          <a:ln>
            <a:solidFill>
              <a:srgbClr val="3348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538728"/>
            <a:ext cx="54864" cy="113385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575304"/>
            <a:ext cx="4910328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F8FAFC"/>
                </a:solidFill>
                <a:latin typeface="Aptos"/>
              </a:defRPr>
            </a:pPr>
            <a:r>
              <a:t>03  Calculate fees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014215"/>
            <a:ext cx="4910328" cy="6766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B1BFD2"/>
                </a:solidFill>
                <a:latin typeface="Aptos"/>
              </a:defRPr>
            </a:pPr>
            <a:r>
              <a:t>Calculate exit charges using parking duration.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429000"/>
            <a:ext cx="5257800" cy="1353312"/>
          </a:xfrm>
          <a:prstGeom prst="roundRect">
            <a:avLst/>
          </a:prstGeom>
          <a:solidFill>
            <a:srgbClr val="172A44"/>
          </a:solidFill>
          <a:ln>
            <a:solidFill>
              <a:srgbClr val="3348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538728"/>
            <a:ext cx="54864" cy="113385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575304"/>
            <a:ext cx="4910328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F8FAFC"/>
                </a:solidFill>
                <a:latin typeface="Aptos"/>
              </a:defRPr>
            </a:pPr>
            <a:r>
              <a:t>04  Review history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014215"/>
            <a:ext cx="4910328" cy="6766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B1BFD2"/>
                </a:solidFill>
                <a:latin typeface="Aptos"/>
              </a:defRPr>
            </a:pPr>
            <a:r>
              <a:t>See recent bookings and collection totals.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532120"/>
            <a:ext cx="19202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22D3EE"/>
                </a:solidFill>
                <a:latin typeface="Aptos"/>
              </a:defRPr>
            </a:pPr>
            <a:r>
              <a:t>TARGET USERS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331720" y="5486400"/>
            <a:ext cx="1828800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31720" y="5495544"/>
            <a:ext cx="1828800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F8FAFC"/>
                </a:solidFill>
                <a:latin typeface="Aptos"/>
              </a:defRPr>
            </a:pPr>
            <a:r>
              <a:t>Parking operator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5486400"/>
            <a:ext cx="1691640" cy="347472"/>
          </a:xfrm>
          <a:prstGeom prst="roundRect">
            <a:avLst/>
          </a:prstGeom>
          <a:solidFill>
            <a:srgbClr val="4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43400" y="5495544"/>
            <a:ext cx="1691640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F8FAFC"/>
                </a:solidFill>
                <a:latin typeface="Aptos"/>
              </a:defRPr>
            </a:pPr>
            <a:r>
              <a:t>Administrator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5486400"/>
            <a:ext cx="2011680" cy="347472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5495544"/>
            <a:ext cx="2011680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F8FAFC"/>
                </a:solidFill>
                <a:latin typeface="Aptos"/>
              </a:defRPr>
            </a:pPr>
            <a:r>
              <a:t>Vehicle owners*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5486400"/>
            <a:ext cx="30175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B1BFD2"/>
                </a:solidFill>
                <a:latin typeface="Aptos"/>
              </a:defRPr>
            </a:pPr>
            <a:r>
              <a:t>*Indirect users of the managed service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881360" cy="5303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F8FAFC"/>
                </a:solidFill>
                <a:latin typeface="Aptos"/>
              </a:defRPr>
            </a:pPr>
            <a:r>
              <a:t>Main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713232" cy="502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33271"/>
            <a:ext cx="1078992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B1BFD2"/>
                </a:solidFill>
                <a:latin typeface="Aptos"/>
              </a:defRPr>
            </a:pPr>
            <a:r>
              <a:t>Features visible in the supplied project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B1BFD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3429000" cy="1600200"/>
          </a:xfrm>
          <a:prstGeom prst="roundRect">
            <a:avLst/>
          </a:prstGeom>
          <a:solidFill>
            <a:srgbClr val="172A44"/>
          </a:solidFill>
          <a:ln>
            <a:solidFill>
              <a:srgbClr val="3348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01368"/>
            <a:ext cx="54864" cy="138074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37944"/>
            <a:ext cx="3081528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F8FAFC"/>
                </a:solidFill>
                <a:latin typeface="Aptos"/>
              </a:defRPr>
            </a:pPr>
            <a:r>
              <a:t>Dashboard counters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76856"/>
            <a:ext cx="3081528" cy="9235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B1BFD2"/>
                </a:solidFill>
                <a:latin typeface="Aptos"/>
              </a:defRPr>
            </a:pPr>
            <a:r>
              <a:t>Total slots • Free • Occupied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691640"/>
            <a:ext cx="3429000" cy="1600200"/>
          </a:xfrm>
          <a:prstGeom prst="roundRect">
            <a:avLst/>
          </a:prstGeom>
          <a:solidFill>
            <a:srgbClr val="172A44"/>
          </a:solidFill>
          <a:ln>
            <a:solidFill>
              <a:srgbClr val="3348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801368"/>
            <a:ext cx="54864" cy="138074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837944"/>
            <a:ext cx="3081528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F8FAFC"/>
                </a:solidFill>
                <a:latin typeface="Aptos"/>
              </a:defRPr>
            </a:pPr>
            <a:r>
              <a:t>Park a vehicle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276856"/>
            <a:ext cx="3081528" cy="9235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B1BFD2"/>
                </a:solidFill>
                <a:latin typeface="Aptos"/>
              </a:defRPr>
            </a:pPr>
            <a:r>
              <a:t>Enter vehicle number; choose a slot or auto-assign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691640"/>
            <a:ext cx="3429000" cy="1600200"/>
          </a:xfrm>
          <a:prstGeom prst="roundRect">
            <a:avLst/>
          </a:prstGeom>
          <a:solidFill>
            <a:srgbClr val="172A44"/>
          </a:solidFill>
          <a:ln>
            <a:solidFill>
              <a:srgbClr val="3348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20" y="1801368"/>
            <a:ext cx="54864" cy="13807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1837944"/>
            <a:ext cx="3081528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F8FAFC"/>
                </a:solidFill>
                <a:latin typeface="Aptos"/>
              </a:defRPr>
            </a:pPr>
            <a:r>
              <a:t>Slot-type filter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276856"/>
            <a:ext cx="3081528" cy="9235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B1BFD2"/>
                </a:solidFill>
                <a:latin typeface="Aptos"/>
              </a:defRPr>
            </a:pPr>
            <a:r>
              <a:t>Filter parking slots by CAR, BIKE, or EV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657600"/>
            <a:ext cx="3429000" cy="1600200"/>
          </a:xfrm>
          <a:prstGeom prst="roundRect">
            <a:avLst/>
          </a:prstGeom>
          <a:solidFill>
            <a:srgbClr val="172A44"/>
          </a:solidFill>
          <a:ln>
            <a:solidFill>
              <a:srgbClr val="3348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767328"/>
            <a:ext cx="54864" cy="138074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803904"/>
            <a:ext cx="3081528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F8FAFC"/>
                </a:solidFill>
                <a:latin typeface="Aptos"/>
              </a:defRPr>
            </a:pPr>
            <a:r>
              <a:t>Exit &amp; pay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242816"/>
            <a:ext cx="3081528" cy="9235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B1BFD2"/>
                </a:solidFill>
                <a:latin typeface="Aptos"/>
              </a:defRPr>
            </a:pPr>
            <a:r>
              <a:t>Enter vehicle number to calculate fee and exit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3657600"/>
            <a:ext cx="3429000" cy="1600200"/>
          </a:xfrm>
          <a:prstGeom prst="roundRect">
            <a:avLst/>
          </a:prstGeom>
          <a:solidFill>
            <a:srgbClr val="172A44"/>
          </a:solidFill>
          <a:ln>
            <a:solidFill>
              <a:srgbClr val="3348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3767328"/>
            <a:ext cx="54864" cy="138074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3803904"/>
            <a:ext cx="3081528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F8FAFC"/>
                </a:solidFill>
                <a:latin typeface="Aptos"/>
              </a:defRPr>
            </a:pPr>
            <a:r>
              <a:t>Parking history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242816"/>
            <a:ext cx="3081528" cy="9235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B1BFD2"/>
                </a:solidFill>
                <a:latin typeface="Aptos"/>
              </a:defRPr>
            </a:pPr>
            <a:r>
              <a:t>Latest 100 records with entry/exit and status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20" y="3657600"/>
            <a:ext cx="3429000" cy="1600200"/>
          </a:xfrm>
          <a:prstGeom prst="roundRect">
            <a:avLst/>
          </a:prstGeom>
          <a:solidFill>
            <a:srgbClr val="172A44"/>
          </a:solidFill>
          <a:ln>
            <a:solidFill>
              <a:srgbClr val="3348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75320" y="3767328"/>
            <a:ext cx="54864" cy="138074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58200" y="3803904"/>
            <a:ext cx="3081528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F8FAFC"/>
                </a:solidFill>
                <a:latin typeface="Aptos"/>
              </a:defRPr>
            </a:pPr>
            <a:r>
              <a:t>Collection summary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4242816"/>
            <a:ext cx="3081528" cy="9235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B1BFD2"/>
                </a:solidFill>
                <a:latin typeface="Aptos"/>
              </a:defRPr>
            </a:pPr>
            <a:r>
              <a:t>Sum of fees from the displayed history records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897880"/>
            <a:ext cx="1078992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B1BFD2"/>
                </a:solidFill>
                <a:latin typeface="Aptos"/>
              </a:defRPr>
            </a:pPr>
            <a:r>
              <a:t>The dashboard and history page provide the main day-to-day operator workflow.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881360" cy="5303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F8FAFC"/>
                </a:solidFill>
                <a:latin typeface="Aptos"/>
              </a:defRPr>
            </a:pPr>
            <a:r>
              <a:t>System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713232" cy="502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33271"/>
            <a:ext cx="1078992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B1BFD2"/>
                </a:solidFill>
                <a:latin typeface="Aptos"/>
              </a:defRPr>
            </a:pPr>
            <a:r>
              <a:t>From vehicle arrival to transaction history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B1BFD2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40280"/>
            <a:ext cx="1828800" cy="1417320"/>
          </a:xfrm>
          <a:prstGeom prst="roundRect">
            <a:avLst/>
          </a:prstGeom>
          <a:solidFill>
            <a:srgbClr val="172A44"/>
          </a:solidFill>
          <a:ln w="228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2359152"/>
            <a:ext cx="1609344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F8FAFC"/>
                </a:solidFill>
                <a:latin typeface="Aptos"/>
              </a:defRPr>
            </a:pPr>
            <a:r>
              <a:t>1  Open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816352"/>
            <a:ext cx="1645920" cy="5943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B1BFD2"/>
                </a:solidFill>
                <a:latin typeface="Aptos"/>
              </a:defRPr>
            </a:pPr>
            <a:r>
              <a:t>View slot counts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50008" y="2926080"/>
            <a:ext cx="429768" cy="0"/>
          </a:xfrm>
          <a:prstGeom prst="line">
            <a:avLst/>
          </a:prstGeom>
          <a:ln w="2286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34640" y="2240280"/>
            <a:ext cx="1828800" cy="1417320"/>
          </a:xfrm>
          <a:prstGeom prst="roundRect">
            <a:avLst/>
          </a:prstGeom>
          <a:solidFill>
            <a:srgbClr val="172A44"/>
          </a:solidFill>
          <a:ln w="228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44368" y="2359152"/>
            <a:ext cx="1609344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F8FAFC"/>
                </a:solidFill>
                <a:latin typeface="Aptos"/>
              </a:defRPr>
            </a:pPr>
            <a:r>
              <a:t>2  Enter vehicle no.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816352"/>
            <a:ext cx="1645920" cy="5943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B1BFD2"/>
                </a:solidFill>
                <a:latin typeface="Aptos"/>
              </a:defRPr>
            </a:pPr>
            <a:r>
              <a:t>Select / auto-assign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681728" y="2926080"/>
            <a:ext cx="429768" cy="0"/>
          </a:xfrm>
          <a:prstGeom prst="line">
            <a:avLst/>
          </a:prstGeom>
          <a:ln w="2286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166360" y="2240280"/>
            <a:ext cx="1828800" cy="1417320"/>
          </a:xfrm>
          <a:prstGeom prst="roundRect">
            <a:avLst/>
          </a:prstGeom>
          <a:solidFill>
            <a:srgbClr val="172A44"/>
          </a:solidFill>
          <a:ln w="2286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76088" y="2359152"/>
            <a:ext cx="1609344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F8FAFC"/>
                </a:solidFill>
                <a:latin typeface="Aptos"/>
              </a:defRPr>
            </a:pPr>
            <a:r>
              <a:t>3  Park vehicle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2816352"/>
            <a:ext cx="1645920" cy="5943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B1BFD2"/>
                </a:solidFill>
                <a:latin typeface="Aptos"/>
              </a:defRPr>
            </a:pPr>
            <a:r>
              <a:t>Booking is recorded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013448" y="2926080"/>
            <a:ext cx="429767" cy="0"/>
          </a:xfrm>
          <a:prstGeom prst="line">
            <a:avLst/>
          </a:prstGeom>
          <a:ln w="2286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498079" y="2240280"/>
            <a:ext cx="1828800" cy="1417320"/>
          </a:xfrm>
          <a:prstGeom prst="roundRect">
            <a:avLst/>
          </a:prstGeom>
          <a:solidFill>
            <a:srgbClr val="172A44"/>
          </a:solidFill>
          <a:ln w="228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7807" y="2359152"/>
            <a:ext cx="1609344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F8FAFC"/>
                </a:solidFill>
                <a:latin typeface="Aptos"/>
              </a:defRPr>
            </a:pPr>
            <a:r>
              <a:t>4  Exit &amp; calculate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19" y="2816352"/>
            <a:ext cx="1645920" cy="5943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B1BFD2"/>
                </a:solidFill>
                <a:latin typeface="Aptos"/>
              </a:defRPr>
            </a:pPr>
            <a:r>
              <a:t>Fee is calculated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345167" y="2926080"/>
            <a:ext cx="429769" cy="0"/>
          </a:xfrm>
          <a:prstGeom prst="line">
            <a:avLst/>
          </a:prstGeom>
          <a:ln w="2286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829800" y="2240280"/>
            <a:ext cx="1828800" cy="1417320"/>
          </a:xfrm>
          <a:prstGeom prst="roundRect">
            <a:avLst/>
          </a:prstGeom>
          <a:solidFill>
            <a:srgbClr val="172A44"/>
          </a:solidFill>
          <a:ln w="228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39528" y="2359152"/>
            <a:ext cx="1609344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F8FAFC"/>
                </a:solidFill>
                <a:latin typeface="Aptos"/>
              </a:defRPr>
            </a:pPr>
            <a:r>
              <a:t>5  View history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1240" y="2816352"/>
            <a:ext cx="1645920" cy="5943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B1BFD2"/>
                </a:solidFill>
                <a:latin typeface="Aptos"/>
              </a:defRPr>
            </a:pPr>
            <a:r>
              <a:t>Review recorded details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343400"/>
            <a:ext cx="4800600" cy="1051560"/>
          </a:xfrm>
          <a:prstGeom prst="roundRect">
            <a:avLst/>
          </a:prstGeom>
          <a:solidFill>
            <a:srgbClr val="172A44"/>
          </a:solidFill>
          <a:ln>
            <a:solidFill>
              <a:srgbClr val="3348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0" y="4453128"/>
            <a:ext cx="54864" cy="832103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4489704"/>
            <a:ext cx="4453128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F8FAFC"/>
                </a:solidFill>
                <a:latin typeface="Aptos"/>
              </a:defRPr>
            </a:pPr>
            <a:r>
              <a:t>Parking decision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928616"/>
            <a:ext cx="4453128" cy="37490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B1BFD2"/>
                </a:solidFill>
                <a:latin typeface="Aptos"/>
              </a:defRPr>
            </a:pPr>
            <a:r>
              <a:t>A slot can be chosen manually or auto-assigned (slot_id = 0).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46520" y="4343400"/>
            <a:ext cx="4800600" cy="1051560"/>
          </a:xfrm>
          <a:prstGeom prst="roundRect">
            <a:avLst/>
          </a:prstGeom>
          <a:solidFill>
            <a:srgbClr val="172A44"/>
          </a:solidFill>
          <a:ln>
            <a:solidFill>
              <a:srgbClr val="3348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46520" y="4453128"/>
            <a:ext cx="54864" cy="83210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4489704"/>
            <a:ext cx="4453128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F8FAFC"/>
                </a:solidFill>
                <a:latin typeface="Aptos"/>
              </a:defRPr>
            </a:pPr>
            <a:r>
              <a:t>Exit decision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4928616"/>
            <a:ext cx="4453128" cy="37490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B1BFD2"/>
                </a:solidFill>
                <a:latin typeface="Aptos"/>
              </a:defRPr>
            </a:pPr>
            <a:r>
              <a:t>Fee uses the configured hourly rate and a minimum 1-hour charge.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881360" cy="5303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F8FAFC"/>
                </a:solidFill>
                <a:latin typeface="Aptos"/>
              </a:defRPr>
            </a:pPr>
            <a:r>
              <a:t>Application Architecture &amp; Technologies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713232" cy="502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33271"/>
            <a:ext cx="1078992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B1BFD2"/>
                </a:solidFill>
                <a:latin typeface="Aptos"/>
              </a:defRPr>
            </a:pPr>
            <a:r>
              <a:t>Based on the README and PHP dashboard/history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B1BFD2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10652760" cy="868680"/>
          </a:xfrm>
          <a:prstGeom prst="roundRect">
            <a:avLst/>
          </a:prstGeom>
          <a:solidFill>
            <a:srgbClr val="172A44"/>
          </a:solidFill>
          <a:ln w="2032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801368"/>
            <a:ext cx="237744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2563EB"/>
                </a:solidFill>
                <a:latin typeface="Aptos"/>
              </a:defRPr>
            </a:pPr>
            <a:r>
              <a:t>PRESENTATION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1801368"/>
            <a:ext cx="7589520" cy="4114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F8FAFC"/>
                </a:solidFill>
                <a:latin typeface="Aptos"/>
              </a:defRPr>
            </a:pPr>
            <a:r>
              <a:t>HTML • CSS • Bootstrap • Forms • Dynamic slot grid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880360"/>
            <a:ext cx="10652760" cy="868680"/>
          </a:xfrm>
          <a:prstGeom prst="roundRect">
            <a:avLst/>
          </a:prstGeom>
          <a:solidFill>
            <a:srgbClr val="172A44"/>
          </a:solidFill>
          <a:ln w="2032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990088"/>
            <a:ext cx="237744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22D3EE"/>
                </a:solidFill>
                <a:latin typeface="Aptos"/>
              </a:defRPr>
            </a:pPr>
            <a:r>
              <a:t>APPLICATION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990088"/>
            <a:ext cx="7589520" cy="4114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F8FAFC"/>
                </a:solidFill>
                <a:latin typeface="Aptos"/>
              </a:defRPr>
            </a:pPr>
            <a:r>
              <a:t>JavaScript DOM/events/fetch • PHP pages • API endpoints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069080"/>
            <a:ext cx="10652760" cy="868680"/>
          </a:xfrm>
          <a:prstGeom prst="roundRect">
            <a:avLst/>
          </a:prstGeom>
          <a:solidFill>
            <a:srgbClr val="172A44"/>
          </a:solidFill>
          <a:ln w="2032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4178808"/>
            <a:ext cx="237744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22C55E"/>
                </a:solidFill>
                <a:latin typeface="Aptos"/>
              </a:defRPr>
            </a:pPr>
            <a:r>
              <a:t>DATA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4178808"/>
            <a:ext cx="7589520" cy="4114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F8FAFC"/>
                </a:solidFill>
                <a:latin typeface="Aptos"/>
              </a:defRPr>
            </a:pPr>
            <a:r>
              <a:t>MySQL database • slots and bookings data • parking history queries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80760" y="2587752"/>
            <a:ext cx="0" cy="246888"/>
          </a:xfrm>
          <a:prstGeom prst="line">
            <a:avLst/>
          </a:prstGeom>
          <a:ln w="254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080760" y="3776472"/>
            <a:ext cx="0" cy="246888"/>
          </a:xfrm>
          <a:prstGeom prst="line">
            <a:avLst/>
          </a:prstGeom>
          <a:ln w="254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22960" y="5486400"/>
            <a:ext cx="1060704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B1BFD2"/>
                </a:solidFill>
                <a:latin typeface="Aptos"/>
              </a:defRPr>
            </a:pPr>
            <a:r>
              <a:t>The README also documents a React version with components, hooks, routing, and a PHP API.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881360" cy="5303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F8FAFC"/>
                </a:solidFill>
                <a:latin typeface="Aptos"/>
              </a:defRPr>
            </a:pPr>
            <a:r>
              <a:t>Fee Calculation &amp; Parking History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713232" cy="502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33271"/>
            <a:ext cx="1078992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B1BFD2"/>
                </a:solidFill>
                <a:latin typeface="Aptos"/>
              </a:defRPr>
            </a:pPr>
            <a:r>
              <a:t>Business rules documented in the supplied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B1BFD2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074920" cy="3429000"/>
          </a:xfrm>
          <a:prstGeom prst="roundRect">
            <a:avLst/>
          </a:prstGeom>
          <a:solidFill>
            <a:srgbClr val="172A44"/>
          </a:solidFill>
          <a:ln>
            <a:solidFill>
              <a:srgbClr val="3348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01368"/>
            <a:ext cx="54864" cy="32095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37944"/>
            <a:ext cx="4727448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F8FAFC"/>
                </a:solidFill>
                <a:latin typeface="Aptos"/>
              </a:defRPr>
            </a:pPr>
            <a:r>
              <a:t>FEE RULE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76856"/>
            <a:ext cx="4727448" cy="27523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B1BFD2"/>
                </a:solidFill>
                <a:latin typeface="Aptos"/>
              </a:defRPr>
            </a:pPr>
            <a:r>
              <a:t>Configured rate: ₹20 per hour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B1BFD2"/>
                </a:solidFill>
                <a:latin typeface="Aptos"/>
              </a:defRPr>
            </a:pPr>
          </a:p>
          <a:p>
            <a:pPr algn="l">
              <a:spcAft>
                <a:spcPts val="500"/>
              </a:spcAft>
              <a:defRPr sz="1700" b="0">
                <a:solidFill>
                  <a:srgbClr val="B1BFD2"/>
                </a:solidFill>
                <a:latin typeface="Aptos"/>
              </a:defRPr>
            </a:pPr>
            <a:r>
              <a:t>Minimum charge: 1 hour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B1BFD2"/>
                </a:solidFill>
                <a:latin typeface="Aptos"/>
              </a:defRPr>
            </a:pPr>
          </a:p>
          <a:p>
            <a:pPr algn="l">
              <a:spcAft>
                <a:spcPts val="500"/>
              </a:spcAft>
              <a:defRPr sz="1700" b="0">
                <a:solidFill>
                  <a:srgbClr val="B1BFD2"/>
                </a:solidFill>
                <a:latin typeface="Aptos"/>
              </a:defRPr>
            </a:pPr>
            <a:r>
              <a:t>The dashboard provides an “Exit &amp; Pay” action to calculate the fee and close the parking session.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B1BFD2"/>
                </a:solidFill>
                <a:latin typeface="Aptos"/>
              </a:defRPr>
            </a:pPr>
          </a:p>
          <a:p>
            <a:pPr algn="l">
              <a:spcAft>
                <a:spcPts val="500"/>
              </a:spcAft>
              <a:defRPr sz="1700" b="0">
                <a:solidFill>
                  <a:srgbClr val="B1BFD2"/>
                </a:solidFill>
                <a:latin typeface="Aptos"/>
              </a:defRPr>
            </a:pPr>
            <a:r>
              <a:t>The hourly rate is configurable in config/db.php.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691640"/>
            <a:ext cx="5074920" cy="3429000"/>
          </a:xfrm>
          <a:prstGeom prst="roundRect">
            <a:avLst/>
          </a:prstGeom>
          <a:solidFill>
            <a:srgbClr val="172A44"/>
          </a:solidFill>
          <a:ln>
            <a:solidFill>
              <a:srgbClr val="3348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801368"/>
            <a:ext cx="54864" cy="320954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837944"/>
            <a:ext cx="4727448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F8FAFC"/>
                </a:solidFill>
                <a:latin typeface="Aptos"/>
              </a:defRPr>
            </a:pPr>
            <a:r>
              <a:t>HISTORY PAGE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276856"/>
            <a:ext cx="4727448" cy="27523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B1BFD2"/>
                </a:solidFill>
                <a:latin typeface="Aptos"/>
              </a:defRPr>
            </a:pPr>
            <a:r>
              <a:t>Displays the latest 100 booking records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B1BFD2"/>
                </a:solidFill>
                <a:latin typeface="Aptos"/>
              </a:defRPr>
            </a:pPr>
          </a:p>
          <a:p>
            <a:pPr algn="l">
              <a:spcAft>
                <a:spcPts val="500"/>
              </a:spcAft>
              <a:defRPr sz="1500" b="0">
                <a:solidFill>
                  <a:srgbClr val="B1BFD2"/>
                </a:solidFill>
                <a:latin typeface="Aptos"/>
              </a:defRPr>
            </a:pPr>
            <a:r>
              <a:t>Fields: booking ID, slot, vehicle number, entry time, exit time, fee, and status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B1BFD2"/>
                </a:solidFill>
                <a:latin typeface="Aptos"/>
              </a:defRPr>
            </a:pPr>
          </a:p>
          <a:p>
            <a:pPr algn="l">
              <a:spcAft>
                <a:spcPts val="500"/>
              </a:spcAft>
              <a:defRPr sz="1500" b="0">
                <a:solidFill>
                  <a:srgbClr val="B1BFD2"/>
                </a:solidFill>
                <a:latin typeface="Aptos"/>
              </a:defRPr>
            </a:pPr>
            <a:r>
              <a:t>Shows total fee collection across the displayed records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B1BFD2"/>
                </a:solidFill>
                <a:latin typeface="Aptos"/>
              </a:defRPr>
            </a:pPr>
          </a:p>
          <a:p>
            <a:pPr algn="l">
              <a:spcAft>
                <a:spcPts val="500"/>
              </a:spcAft>
              <a:defRPr sz="1500" b="0">
                <a:solidFill>
                  <a:srgbClr val="B1BFD2"/>
                </a:solidFill>
                <a:latin typeface="Aptos"/>
              </a:defRPr>
            </a:pPr>
            <a:r>
              <a:t>Active and completed statuses use different visual badges.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623560"/>
            <a:ext cx="1042416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22D3EE"/>
                </a:solidFill>
                <a:latin typeface="Aptos"/>
              </a:defRPr>
            </a:pPr>
            <a:r>
              <a:t>Note: the collection figure is for the latest 100 records shown, not necessarily all-time revenue.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881360" cy="5303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F8FAFC"/>
                </a:solidFill>
                <a:latin typeface="Aptos"/>
              </a:defRPr>
            </a:pPr>
            <a:r>
              <a:t>Data Flow &amp; API Endpoints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713232" cy="502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33271"/>
            <a:ext cx="1078992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B1BFD2"/>
                </a:solidFill>
                <a:latin typeface="Aptos"/>
              </a:defRPr>
            </a:pPr>
            <a:r>
              <a:t>Endpoints listed in the project README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B1BFD2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1051560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46504"/>
            <a:ext cx="1051560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F8FAFC"/>
                </a:solidFill>
                <a:latin typeface="Aptos"/>
              </a:defRPr>
            </a:pPr>
            <a:r>
              <a:t>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664208"/>
            <a:ext cx="297180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F8FAFC"/>
                </a:solidFill>
                <a:latin typeface="Aptos"/>
              </a:defRPr>
            </a:pPr>
            <a:r>
              <a:t>api/slots.php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3480" y="1664208"/>
            <a:ext cx="6309360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B1BFD2"/>
                </a:solidFill>
                <a:latin typeface="Aptos"/>
              </a:defRPr>
            </a:pPr>
            <a:r>
              <a:t>Returns parking slots and current vehicle details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414016"/>
            <a:ext cx="10515600" cy="13716"/>
          </a:xfrm>
          <a:prstGeom prst="rect">
            <a:avLst/>
          </a:prstGeom>
          <a:solidFill>
            <a:srgbClr val="314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2724912"/>
            <a:ext cx="1051560" cy="347472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734056"/>
            <a:ext cx="1051560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F8FAFC"/>
                </a:solidFill>
                <a:latin typeface="Aptos"/>
              </a:defRPr>
            </a:pPr>
            <a:r>
              <a:t>POST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651760"/>
            <a:ext cx="297180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F8FAFC"/>
                </a:solidFill>
                <a:latin typeface="Aptos"/>
              </a:defRPr>
            </a:pPr>
            <a:r>
              <a:t>api/park.php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2651760"/>
            <a:ext cx="6309360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B1BFD2"/>
                </a:solidFill>
                <a:latin typeface="Aptos"/>
              </a:defRPr>
            </a:pPr>
            <a:r>
              <a:t>Creates a parking booking; accepts vehicle_no and slot_id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401568"/>
            <a:ext cx="10515600" cy="13716"/>
          </a:xfrm>
          <a:prstGeom prst="rect">
            <a:avLst/>
          </a:prstGeom>
          <a:solidFill>
            <a:srgbClr val="314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" y="3712464"/>
            <a:ext cx="1051560" cy="34747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721608"/>
            <a:ext cx="1051560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F8FAFC"/>
                </a:solidFill>
                <a:latin typeface="Aptos"/>
              </a:defRPr>
            </a:pPr>
            <a:r>
              <a:t>POST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3639312"/>
            <a:ext cx="297180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F8FAFC"/>
                </a:solidFill>
                <a:latin typeface="Aptos"/>
              </a:defRPr>
            </a:pPr>
            <a:r>
              <a:t>api/exit.php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3639312"/>
            <a:ext cx="6309360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B1BFD2"/>
                </a:solidFill>
                <a:latin typeface="Aptos"/>
              </a:defRPr>
            </a:pPr>
            <a:r>
              <a:t>Processes vehicle exit and returns billed hours and fee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389120"/>
            <a:ext cx="10515600" cy="13716"/>
          </a:xfrm>
          <a:prstGeom prst="rect">
            <a:avLst/>
          </a:prstGeom>
          <a:solidFill>
            <a:srgbClr val="314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7240" y="4700016"/>
            <a:ext cx="1051560" cy="347472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709160"/>
            <a:ext cx="1051560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F8FAFC"/>
                </a:solidFill>
                <a:latin typeface="Aptos"/>
              </a:defRPr>
            </a:pPr>
            <a:r>
              <a:t>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4626864"/>
            <a:ext cx="297180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F8FAFC"/>
                </a:solidFill>
                <a:latin typeface="Aptos"/>
              </a:defRPr>
            </a:pPr>
            <a:r>
              <a:t>api/history.php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4626864"/>
            <a:ext cx="6309360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B1BFD2"/>
                </a:solidFill>
                <a:latin typeface="Aptos"/>
              </a:defRPr>
            </a:pPr>
            <a:r>
              <a:t>Returns the last 100 booking records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806440"/>
            <a:ext cx="1042416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22D3EE"/>
                </a:solidFill>
                <a:latin typeface="Aptos"/>
              </a:defRPr>
            </a:pPr>
            <a:r>
              <a:t>The browser interface communicates with PHP endpoints; PHP reads or updates the MySQL 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881360" cy="5303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F8FAFC"/>
                </a:solidFill>
                <a:latin typeface="Aptos"/>
              </a:defRPr>
            </a:pPr>
            <a:r>
              <a:t>Live Demonstration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713232" cy="502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33271"/>
            <a:ext cx="1078992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B1BFD2"/>
                </a:solidFill>
                <a:latin typeface="Aptos"/>
              </a:defRPr>
            </a:pPr>
            <a:r>
              <a:t>A clear sequence to show during the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B1BFD2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627632"/>
            <a:ext cx="640080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36776"/>
            <a:ext cx="640080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F8FAF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609344"/>
            <a:ext cx="233172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F8FAFC"/>
                </a:solidFill>
                <a:latin typeface="Aptos"/>
              </a:defRPr>
            </a:pPr>
            <a:r>
              <a:t>Open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9080" y="1609344"/>
            <a:ext cx="699516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B1BFD2"/>
                </a:solidFill>
                <a:latin typeface="Aptos"/>
              </a:defRPr>
            </a:pPr>
            <a:r>
              <a:t>Point out total, free, and occupied slot counters.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459736"/>
            <a:ext cx="640080" cy="347472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468879"/>
            <a:ext cx="640080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F8FAF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441448"/>
            <a:ext cx="233172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F8FAFC"/>
                </a:solidFill>
                <a:latin typeface="Aptos"/>
              </a:defRPr>
            </a:pPr>
            <a:r>
              <a:t>Filter slot 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2441448"/>
            <a:ext cx="699516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B1BFD2"/>
                </a:solidFill>
                <a:latin typeface="Aptos"/>
              </a:defRPr>
            </a:pPr>
            <a:r>
              <a:t>Choose CAR, BIKE, or EV and show the slot grid.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291840"/>
            <a:ext cx="640080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300984"/>
            <a:ext cx="640080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F8FAF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273552"/>
            <a:ext cx="233172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F8FAFC"/>
                </a:solidFill>
                <a:latin typeface="Aptos"/>
              </a:defRPr>
            </a:pPr>
            <a:r>
              <a:t>Park a vehicle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80" y="3273552"/>
            <a:ext cx="699516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B1BFD2"/>
                </a:solidFill>
                <a:latin typeface="Aptos"/>
              </a:defRPr>
            </a:pPr>
            <a:r>
              <a:t>Enter a sample vehicle number and auto-assign or select a slot.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123944"/>
            <a:ext cx="640080" cy="347472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133087"/>
            <a:ext cx="640080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F8FAF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4105656"/>
            <a:ext cx="233172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F8FAFC"/>
                </a:solidFill>
                <a:latin typeface="Aptos"/>
              </a:defRPr>
            </a:pPr>
            <a:r>
              <a:t>Exit the vehicle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80" y="4105656"/>
            <a:ext cx="699516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B1BFD2"/>
                </a:solidFill>
                <a:latin typeface="Aptos"/>
              </a:defRPr>
            </a:pPr>
            <a:r>
              <a:t>Enter the same vehicle number and calculate the fee.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4956048"/>
            <a:ext cx="640080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65192"/>
            <a:ext cx="640080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F8FAF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937760"/>
            <a:ext cx="233172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F8FAFC"/>
                </a:solidFill>
                <a:latin typeface="Aptos"/>
              </a:defRPr>
            </a:pPr>
            <a:r>
              <a:t>Open history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9080" y="4937760"/>
            <a:ext cx="699516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B1BFD2"/>
                </a:solidFill>
                <a:latin typeface="Aptos"/>
              </a:defRPr>
            </a:pPr>
            <a:r>
              <a:t>Show entry/exit times, fee, status, and collection total.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989320"/>
            <a:ext cx="105156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22D3EE"/>
                </a:solidFill>
                <a:latin typeface="Aptos"/>
              </a:defRPr>
            </a:pPr>
            <a:r>
              <a:t>Use a test vehicle number and verify the result on the dashboard/history page.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881360" cy="5303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F8FAFC"/>
                </a:solidFill>
                <a:latin typeface="Aptos"/>
              </a:defRPr>
            </a:pPr>
            <a:r>
              <a:t>Benefits &amp; Future Enhancements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713232" cy="502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33271"/>
            <a:ext cx="1078992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B1BFD2"/>
                </a:solidFill>
                <a:latin typeface="Aptos"/>
              </a:defRPr>
            </a:pPr>
            <a:r>
              <a:t>Current strengths and possible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B1BFD2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074920" cy="3611880"/>
          </a:xfrm>
          <a:prstGeom prst="roundRect">
            <a:avLst/>
          </a:prstGeom>
          <a:solidFill>
            <a:srgbClr val="172A44"/>
          </a:solidFill>
          <a:ln>
            <a:solidFill>
              <a:srgbClr val="3348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01368"/>
            <a:ext cx="54864" cy="339242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37944"/>
            <a:ext cx="4727448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F8FAFC"/>
                </a:solidFill>
                <a:latin typeface="Aptos"/>
              </a:defRPr>
            </a:pPr>
            <a:r>
              <a:t>CURRENT BENEFITS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76856"/>
            <a:ext cx="4727448" cy="293522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B1BFD2"/>
                </a:solidFill>
                <a:latin typeface="Aptos"/>
              </a:defRPr>
            </a:pPr>
            <a:r>
              <a:t>• Faster view of slot availability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B1BFD2"/>
                </a:solidFill>
                <a:latin typeface="Aptos"/>
              </a:defRPr>
            </a:pPr>
          </a:p>
          <a:p>
            <a:pPr algn="l">
              <a:spcAft>
                <a:spcPts val="500"/>
              </a:spcAft>
              <a:defRPr sz="1500" b="0">
                <a:solidFill>
                  <a:srgbClr val="B1BFD2"/>
                </a:solidFill>
                <a:latin typeface="Aptos"/>
              </a:defRPr>
            </a:pPr>
            <a:r>
              <a:t>• Manual or automatic slot assignment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B1BFD2"/>
                </a:solidFill>
                <a:latin typeface="Aptos"/>
              </a:defRPr>
            </a:pPr>
          </a:p>
          <a:p>
            <a:pPr algn="l">
              <a:spcAft>
                <a:spcPts val="500"/>
              </a:spcAft>
              <a:defRPr sz="1500" b="0">
                <a:solidFill>
                  <a:srgbClr val="B1BFD2"/>
                </a:solidFill>
                <a:latin typeface="Aptos"/>
              </a:defRPr>
            </a:pPr>
            <a:r>
              <a:t>• Consistent fee calculation rule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B1BFD2"/>
                </a:solidFill>
                <a:latin typeface="Aptos"/>
              </a:defRPr>
            </a:pPr>
          </a:p>
          <a:p>
            <a:pPr algn="l">
              <a:spcAft>
                <a:spcPts val="500"/>
              </a:spcAft>
              <a:defRPr sz="1500" b="0">
                <a:solidFill>
                  <a:srgbClr val="B1BFD2"/>
                </a:solidFill>
                <a:latin typeface="Aptos"/>
              </a:defRPr>
            </a:pPr>
            <a:r>
              <a:t>• Centralized booking history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B1BFD2"/>
                </a:solidFill>
                <a:latin typeface="Aptos"/>
              </a:defRPr>
            </a:pPr>
          </a:p>
          <a:p>
            <a:pPr algn="l">
              <a:spcAft>
                <a:spcPts val="500"/>
              </a:spcAft>
              <a:defRPr sz="1500" b="0">
                <a:solidFill>
                  <a:srgbClr val="B1BFD2"/>
                </a:solidFill>
                <a:latin typeface="Aptos"/>
              </a:defRPr>
            </a:pPr>
            <a:r>
              <a:t>• Simple browser-based workflow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691640"/>
            <a:ext cx="5074920" cy="3611880"/>
          </a:xfrm>
          <a:prstGeom prst="roundRect">
            <a:avLst/>
          </a:prstGeom>
          <a:solidFill>
            <a:srgbClr val="172A44"/>
          </a:solidFill>
          <a:ln>
            <a:solidFill>
              <a:srgbClr val="3348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801368"/>
            <a:ext cx="54864" cy="339242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837944"/>
            <a:ext cx="4727448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F8FAFC"/>
                </a:solidFill>
                <a:latin typeface="Aptos"/>
              </a:defRPr>
            </a:pPr>
            <a:r>
              <a:t>POSSIBLE ENHANCEMENTS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276856"/>
            <a:ext cx="4727448" cy="293522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B1BFD2"/>
                </a:solidFill>
                <a:latin typeface="Aptos"/>
              </a:defRPr>
            </a:pPr>
            <a:r>
              <a:t>• Admin login using PHP sessions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B1BFD2"/>
                </a:solidFill>
                <a:latin typeface="Aptos"/>
              </a:defRPr>
            </a:pPr>
          </a:p>
          <a:p>
            <a:pPr algn="l">
              <a:spcAft>
                <a:spcPts val="500"/>
              </a:spcAft>
              <a:defRPr sz="1500" b="0">
                <a:solidFill>
                  <a:srgbClr val="B1BFD2"/>
                </a:solidFill>
                <a:latin typeface="Aptos"/>
              </a:defRPr>
            </a:pPr>
            <a:r>
              <a:t>• Different rates by slot type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B1BFD2"/>
                </a:solidFill>
                <a:latin typeface="Aptos"/>
              </a:defRPr>
            </a:pPr>
          </a:p>
          <a:p>
            <a:pPr algn="l">
              <a:spcAft>
                <a:spcPts val="500"/>
              </a:spcAft>
              <a:defRPr sz="1500" b="0">
                <a:solidFill>
                  <a:srgbClr val="B1BFD2"/>
                </a:solidFill>
                <a:latin typeface="Aptos"/>
              </a:defRPr>
            </a:pPr>
            <a:r>
              <a:t>• QR-code parking tickets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B1BFD2"/>
                </a:solidFill>
                <a:latin typeface="Aptos"/>
              </a:defRPr>
            </a:pPr>
          </a:p>
          <a:p>
            <a:pPr algn="l">
              <a:spcAft>
                <a:spcPts val="500"/>
              </a:spcAft>
              <a:defRPr sz="1500" b="0">
                <a:solidFill>
                  <a:srgbClr val="B1BFD2"/>
                </a:solidFill>
                <a:latin typeface="Aptos"/>
              </a:defRPr>
            </a:pPr>
            <a:r>
              <a:t>• Date-wise reports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B1BFD2"/>
                </a:solidFill>
                <a:latin typeface="Aptos"/>
              </a:defRPr>
            </a:pPr>
          </a:p>
          <a:p>
            <a:pPr algn="l">
              <a:spcAft>
                <a:spcPts val="500"/>
              </a:spcAft>
              <a:defRPr sz="1500" b="0">
                <a:solidFill>
                  <a:srgbClr val="B1BFD2"/>
                </a:solidFill>
                <a:latin typeface="Aptos"/>
              </a:defRPr>
            </a:pPr>
            <a:r>
              <a:t>• More detailed role-based 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806440"/>
            <a:ext cx="105156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B1BFD2"/>
                </a:solidFill>
                <a:latin typeface="Aptos"/>
              </a:defRPr>
            </a:pPr>
            <a:r>
              <a:t>Enhancements are ideas listed in the README; they are not presented as already implemented.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03920" y="914400"/>
            <a:ext cx="2194560" cy="219456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1353312"/>
            <a:ext cx="2194560" cy="8229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500"/>
              </a:spcAft>
              <a:defRPr sz="4200" b="1">
                <a:solidFill>
                  <a:srgbClr val="F8FAFC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6675120" cy="6400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22D3EE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498079" cy="12801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3200" b="1">
                <a:solidFill>
                  <a:srgbClr val="F8FAFC"/>
                </a:solidFill>
                <a:latin typeface="Aptos"/>
              </a:defRPr>
            </a:pPr>
            <a:r>
              <a:t>SMART PARKING,</a:t>
            </a:r>
          </a:p>
          <a:p>
            <a:pPr algn="l">
              <a:spcAft>
                <a:spcPts val="500"/>
              </a:spcAft>
              <a:defRPr sz="3200" b="1">
                <a:solidFill>
                  <a:srgbClr val="F8FAFC"/>
                </a:solidFill>
                <a:latin typeface="Aptos"/>
              </a:defRPr>
            </a:pPr>
            <a:r>
              <a:t>SIMPLIFIED.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383280"/>
            <a:ext cx="7132320" cy="9601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800" b="0">
                <a:solidFill>
                  <a:srgbClr val="B1BFD2"/>
                </a:solidFill>
                <a:latin typeface="Aptos"/>
              </a:defRPr>
            </a:pPr>
            <a:r>
              <a:t>The system brings slot visibility, vehicle parking and exit, fee calculation, and parking history into one web application.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5074920"/>
            <a:ext cx="6400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2200" b="1">
                <a:solidFill>
                  <a:srgbClr val="F8FAFC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5897880"/>
            <a:ext cx="64008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22D3EE"/>
                </a:solidFill>
                <a:latin typeface="Aptos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4711</Words>
  <Application>WPS Presentation</Application>
  <PresentationFormat>On-screen Show (4:3)</PresentationFormat>
  <Paragraphs>304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Arial</vt:lpstr>
      <vt:lpstr>SimSun</vt:lpstr>
      <vt:lpstr>Wingdings</vt:lpstr>
      <vt:lpstr>Arial</vt:lpstr>
      <vt:lpstr>Aptos</vt:lpstr>
      <vt:lpstr>Segoe UI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Naresh Kumar</cp:lastModifiedBy>
  <cp:revision>2</cp:revision>
  <dcterms:created xsi:type="dcterms:W3CDTF">2013-01-27T09:14:00Z</dcterms:created>
  <dcterms:modified xsi:type="dcterms:W3CDTF">2026-10-13T10:37:15Z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AACE515AC7E24D41859CD8D1E4DC7ECA_12</vt:lpwstr>
  </property>
  <property fmtid="{D5CDD505-2E9C-101B-9397-08002B2CF9AE}" pid="3" name="KSOProductBuildVer">
    <vt:lpwstr>1033-12.1.0.29162</vt:lpwstr>
  </property>
</Properties>
</file>